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1675"/>
  <p:notesSz cx="6858000" cy="12191675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L60BrkCYNQJXOXFqn3chFJNE6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94944" y="47548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CAPSTONE PROPOSAL  /  GROUP 21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1078992"/>
            <a:ext cx="5212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4700"/>
              <a:buFont typeface="Play"/>
              <a:buNone/>
            </a:pPr>
            <a:r>
              <a:rPr b="1" i="0" lang="en-US" sz="4700" u="none" cap="none" strike="noStrike">
                <a:solidFill>
                  <a:srgbClr val="34271F"/>
                </a:solidFill>
                <a:latin typeface="Play"/>
                <a:ea typeface="Play"/>
                <a:cs typeface="Play"/>
                <a:sym typeface="Play"/>
              </a:rPr>
              <a:t>MoodLens</a:t>
            </a:r>
            <a:endParaRPr b="0" i="0" sz="4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22376" y="18745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513D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74513D"/>
                </a:solidFill>
                <a:latin typeface="Arial"/>
                <a:ea typeface="Arial"/>
                <a:cs typeface="Arial"/>
                <a:sym typeface="Arial"/>
              </a:rPr>
              <a:t>FER-Based Mobile Emotion Detection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22376" y="23317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Proposal UI • Android Studio • XML • CameraX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9808" y="4160520"/>
            <a:ext cx="1737360" cy="1737360"/>
          </a:xfrm>
          <a:prstGeom prst="ellipse">
            <a:avLst/>
          </a:prstGeom>
          <a:solidFill>
            <a:srgbClr val="F2E7D6">
              <a:alpha val="0"/>
            </a:srgbClr>
          </a:solidFill>
          <a:ln cap="flat" cmpd="sng" w="508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15568" y="4526280"/>
            <a:ext cx="1005840" cy="1005840"/>
          </a:xfrm>
          <a:prstGeom prst="ellipse">
            <a:avLst/>
          </a:prstGeom>
          <a:solidFill>
            <a:srgbClr val="E8E6FF">
              <a:alpha val="87843"/>
            </a:srgbClr>
          </a:solidFill>
          <a:ln cap="flat" cmpd="sng" w="165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463040" y="4873752"/>
            <a:ext cx="310896" cy="310896"/>
          </a:xfrm>
          <a:prstGeom prst="ellipse">
            <a:avLst/>
          </a:prstGeom>
          <a:solidFill>
            <a:srgbClr val="12B7A5"/>
          </a:solidFill>
          <a:ln cap="flat" cmpd="sng" w="1270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788920" y="4608576"/>
            <a:ext cx="2834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SEE THE EMOTION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BEHIND THE EXPRESSION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510528" y="685800"/>
            <a:ext cx="4892040" cy="5440680"/>
          </a:xfrm>
          <a:prstGeom prst="roundRect">
            <a:avLst>
              <a:gd fmla="val 3364" name="adj"/>
            </a:avLst>
          </a:prstGeom>
          <a:solidFill>
            <a:srgbClr val="FFF9F1"/>
          </a:solidFill>
          <a:ln cap="flat" cmpd="sng" w="139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885432" y="10789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67144" y="143560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Group 21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6858000" y="1965960"/>
            <a:ext cx="4160520" cy="0"/>
          </a:xfrm>
          <a:prstGeom prst="straightConnector1">
            <a:avLst/>
          </a:prstGeom>
          <a:noFill/>
          <a:ln cap="flat" cmpd="sng" w="1270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6876288" y="2286000"/>
            <a:ext cx="420624" cy="420624"/>
          </a:xfrm>
          <a:prstGeom prst="ellipse">
            <a:avLst/>
          </a:prstGeom>
          <a:solidFill>
            <a:srgbClr val="E8E6FF"/>
          </a:solidFill>
          <a:ln cap="flat" cmpd="sng" w="101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876288" y="2395728"/>
            <a:ext cx="4206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452360" y="2267712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330"/>
              <a:buFont typeface="Arial"/>
              <a:buNone/>
            </a:pPr>
            <a:r>
              <a:rPr b="1" i="0" lang="en-US" sz="13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Hoang Lan Dao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0177272" y="2267712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4513D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74513D"/>
                </a:solidFill>
                <a:latin typeface="Arial"/>
                <a:ea typeface="Arial"/>
                <a:cs typeface="Arial"/>
                <a:sym typeface="Arial"/>
              </a:rPr>
              <a:t>375910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7443216" y="2798064"/>
            <a:ext cx="3502152" cy="0"/>
          </a:xfrm>
          <a:prstGeom prst="straightConnector1">
            <a:avLst/>
          </a:prstGeom>
          <a:noFill/>
          <a:ln cap="flat" cmpd="sng" w="10150">
            <a:solidFill>
              <a:srgbClr val="E9D9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6876288" y="3035808"/>
            <a:ext cx="420624" cy="420624"/>
          </a:xfrm>
          <a:prstGeom prst="ellipse">
            <a:avLst/>
          </a:prstGeom>
          <a:solidFill>
            <a:srgbClr val="DDF6F1"/>
          </a:solidFill>
          <a:ln cap="flat" cmpd="sng" w="1015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876288" y="3145536"/>
            <a:ext cx="4206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452360" y="3017520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330"/>
              <a:buFont typeface="Arial"/>
              <a:buNone/>
            </a:pPr>
            <a:r>
              <a:rPr b="1" i="0" lang="en-US" sz="13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Akshata Bhusal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10177272" y="301752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4513D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74513D"/>
                </a:solidFill>
                <a:latin typeface="Arial"/>
                <a:ea typeface="Arial"/>
                <a:cs typeface="Arial"/>
                <a:sym typeface="Arial"/>
              </a:rPr>
              <a:t>377164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1"/>
          <p:cNvCxnSpPr/>
          <p:nvPr/>
        </p:nvCxnSpPr>
        <p:spPr>
          <a:xfrm>
            <a:off x="7443216" y="3547872"/>
            <a:ext cx="3502152" cy="0"/>
          </a:xfrm>
          <a:prstGeom prst="straightConnector1">
            <a:avLst/>
          </a:prstGeom>
          <a:noFill/>
          <a:ln cap="flat" cmpd="sng" w="10150">
            <a:solidFill>
              <a:srgbClr val="E9D9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1"/>
          <p:cNvSpPr/>
          <p:nvPr/>
        </p:nvSpPr>
        <p:spPr>
          <a:xfrm>
            <a:off x="6876288" y="3785616"/>
            <a:ext cx="420624" cy="420624"/>
          </a:xfrm>
          <a:prstGeom prst="ellipse">
            <a:avLst/>
          </a:prstGeom>
          <a:solidFill>
            <a:srgbClr val="E8E6FF"/>
          </a:solidFill>
          <a:ln cap="flat" cmpd="sng" w="101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6876288" y="3895344"/>
            <a:ext cx="4206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452360" y="3767328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330"/>
              <a:buFont typeface="Arial"/>
              <a:buNone/>
            </a:pPr>
            <a:r>
              <a:rPr b="1" i="0" lang="en-US" sz="13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Fabiha Sultana Anushe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0177272" y="37673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4513D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74513D"/>
                </a:solidFill>
                <a:latin typeface="Arial"/>
                <a:ea typeface="Arial"/>
                <a:cs typeface="Arial"/>
                <a:sym typeface="Arial"/>
              </a:rPr>
              <a:t>372205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7443216" y="4297680"/>
            <a:ext cx="3502152" cy="0"/>
          </a:xfrm>
          <a:prstGeom prst="straightConnector1">
            <a:avLst/>
          </a:prstGeom>
          <a:noFill/>
          <a:ln cap="flat" cmpd="sng" w="10150">
            <a:solidFill>
              <a:srgbClr val="E9D9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/>
          <p:nvPr/>
        </p:nvSpPr>
        <p:spPr>
          <a:xfrm>
            <a:off x="6876288" y="4535424"/>
            <a:ext cx="420624" cy="420624"/>
          </a:xfrm>
          <a:prstGeom prst="ellipse">
            <a:avLst/>
          </a:prstGeom>
          <a:solidFill>
            <a:srgbClr val="DDF6F1"/>
          </a:solidFill>
          <a:ln cap="flat" cmpd="sng" w="1015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6876288" y="4645152"/>
            <a:ext cx="4206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452360" y="4517136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330"/>
              <a:buFont typeface="Arial"/>
              <a:buNone/>
            </a:pPr>
            <a:r>
              <a:rPr b="1" i="0" lang="en-US" sz="13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Jeremy Immanuel Situmeang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10177272" y="4517136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4513D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74513D"/>
                </a:solidFill>
                <a:latin typeface="Arial"/>
                <a:ea typeface="Arial"/>
                <a:cs typeface="Arial"/>
                <a:sym typeface="Arial"/>
              </a:rPr>
              <a:t>374594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6876288" y="5349240"/>
            <a:ext cx="4096512" cy="438912"/>
          </a:xfrm>
          <a:prstGeom prst="roundRect">
            <a:avLst>
              <a:gd fmla="val 20833" name="adj"/>
            </a:avLst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02920" y="30175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87552" y="3017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PRODUCT CONCEPT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658368" y="749808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34271F"/>
                </a:solidFill>
                <a:latin typeface="Play"/>
                <a:ea typeface="Play"/>
                <a:cs typeface="Play"/>
                <a:sym typeface="Play"/>
              </a:rPr>
              <a:t>A focused mobile experience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76650" y="1325875"/>
            <a:ext cx="659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The proposal keeps the flow simple: open the app, choose a detection mode, and review results.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58368" y="1874520"/>
            <a:ext cx="5577840" cy="1216152"/>
          </a:xfrm>
          <a:prstGeom prst="roundRect">
            <a:avLst>
              <a:gd fmla="val 10526" name="adj"/>
            </a:avLst>
          </a:prstGeom>
          <a:solidFill>
            <a:srgbClr val="FFF9F1"/>
          </a:solidFill>
          <a:ln cap="flat" cmpd="sng" w="11425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932688" y="219456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“MoodLens turns facial expressions into a clear, visual emotion result.”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58368" y="3493008"/>
            <a:ext cx="1234440" cy="1325880"/>
          </a:xfrm>
          <a:prstGeom prst="roundRect">
            <a:avLst>
              <a:gd fmla="val 8889" name="adj"/>
            </a:avLst>
          </a:prstGeom>
          <a:solidFill>
            <a:srgbClr val="E8E6FF"/>
          </a:solidFill>
          <a:ln cap="flat" cmpd="sng" w="101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86384" y="365760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86384" y="3986784"/>
            <a:ext cx="9509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86384" y="4343400"/>
            <a:ext cx="969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Live / photo input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103120" y="3493008"/>
            <a:ext cx="1234440" cy="1325880"/>
          </a:xfrm>
          <a:prstGeom prst="roundRect">
            <a:avLst>
              <a:gd fmla="val 8889" name="adj"/>
            </a:avLst>
          </a:prstGeom>
          <a:solidFill>
            <a:srgbClr val="DDF6F1"/>
          </a:solidFill>
          <a:ln cap="flat" cmpd="sng" w="1015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2231136" y="365760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2231136" y="3986784"/>
            <a:ext cx="9509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FACE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231136" y="4343400"/>
            <a:ext cx="969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Locate expression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547872" y="3493008"/>
            <a:ext cx="1234440" cy="1325880"/>
          </a:xfrm>
          <a:prstGeom prst="roundRect">
            <a:avLst>
              <a:gd fmla="val 8889" name="adj"/>
            </a:avLst>
          </a:prstGeom>
          <a:solidFill>
            <a:srgbClr val="E8E6FF"/>
          </a:solidFill>
          <a:ln cap="flat" cmpd="sng" w="101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675888" y="365760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675888" y="3986784"/>
            <a:ext cx="9509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FER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675888" y="4343400"/>
            <a:ext cx="969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Classify emotion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992624" y="3493008"/>
            <a:ext cx="1234440" cy="1325880"/>
          </a:xfrm>
          <a:prstGeom prst="roundRect">
            <a:avLst>
              <a:gd fmla="val 8889" name="adj"/>
            </a:avLst>
          </a:prstGeom>
          <a:solidFill>
            <a:srgbClr val="DDF6F1"/>
          </a:solidFill>
          <a:ln cap="flat" cmpd="sng" w="1015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5120640" y="365760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120640" y="3986784"/>
            <a:ext cx="9509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120640" y="4343400"/>
            <a:ext cx="969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Emotion + confidence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58368" y="5230368"/>
            <a:ext cx="1691640" cy="384048"/>
          </a:xfrm>
          <a:prstGeom prst="roundRect">
            <a:avLst>
              <a:gd fmla="val 23810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731520" y="5294376"/>
            <a:ext cx="15453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7 FER emotion classes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2487168" y="5230368"/>
            <a:ext cx="1417320" cy="384048"/>
          </a:xfrm>
          <a:prstGeom prst="roundRect">
            <a:avLst>
              <a:gd fmla="val 23810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2560320" y="5294376"/>
            <a:ext cx="1271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Confidence score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041648" y="5230368"/>
            <a:ext cx="1280160" cy="384048"/>
          </a:xfrm>
          <a:prstGeom prst="roundRect">
            <a:avLst>
              <a:gd fmla="val 23810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114800" y="5294376"/>
            <a:ext cx="11338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Target filters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507224" y="1335024"/>
            <a:ext cx="3913632" cy="4892040"/>
          </a:xfrm>
          <a:prstGeom prst="roundRect">
            <a:avLst>
              <a:gd fmla="val 2804" name="adj"/>
            </a:avLst>
          </a:prstGeom>
          <a:solidFill>
            <a:srgbClr val="E9D9C4">
              <a:alpha val="85098"/>
            </a:srgbClr>
          </a:solidFill>
          <a:ln cap="flat" cmpd="sng" w="12700">
            <a:solidFill>
              <a:srgbClr val="E9D9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7434075" y="1261875"/>
            <a:ext cx="4251900" cy="4892100"/>
          </a:xfrm>
          <a:prstGeom prst="roundRect">
            <a:avLst>
              <a:gd fmla="val 2804" name="adj"/>
            </a:avLst>
          </a:prstGeom>
          <a:solidFill>
            <a:srgbClr val="FFF9F1"/>
          </a:solidFill>
          <a:ln cap="flat" cmpd="sng" w="11425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oodlens_ss/WhatsApp Image 2026-09-23 at 11.08.31 PM.jpeg"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5908" y="1371600"/>
            <a:ext cx="2397620" cy="467258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/>
          <p:nvPr/>
        </p:nvSpPr>
        <p:spPr>
          <a:xfrm>
            <a:off x="10702600" y="1422186"/>
            <a:ext cx="932700" cy="292500"/>
          </a:xfrm>
          <a:prstGeom prst="roundRect">
            <a:avLst>
              <a:gd fmla="val 25000" name="adj"/>
            </a:avLst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10739176" y="1477050"/>
            <a:ext cx="85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7616952" y="625449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Current UI prototype screenshot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502920" y="30175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87552" y="3017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DETECTION EXPERIENCE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658368" y="717510"/>
            <a:ext cx="749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34271F"/>
                </a:solidFill>
                <a:latin typeface="Play"/>
                <a:ea typeface="Play"/>
                <a:cs typeface="Play"/>
                <a:sym typeface="Play"/>
              </a:rPr>
              <a:t>Camera-first emotion detection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76651" y="1307602"/>
            <a:ext cx="571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CameraX powers the live camera layer; the FER model returns the emotion and confidence.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76656" y="1865376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LIVE DETECTION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58368" y="2240280"/>
            <a:ext cx="4407408" cy="960120"/>
          </a:xfrm>
          <a:prstGeom prst="roundRect">
            <a:avLst>
              <a:gd fmla="val 1142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822960" y="2414016"/>
            <a:ext cx="438912" cy="438912"/>
          </a:xfrm>
          <a:prstGeom prst="ellipse">
            <a:avLst/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22960" y="248716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408176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CameraX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408176" y="267004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Camera preview and frame capture for real-time detection.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58368" y="3401568"/>
            <a:ext cx="4407408" cy="960120"/>
          </a:xfrm>
          <a:prstGeom prst="roundRect">
            <a:avLst>
              <a:gd fmla="val 1142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22960" y="3575304"/>
            <a:ext cx="438912" cy="438912"/>
          </a:xfrm>
          <a:prstGeom prst="ellipse">
            <a:avLst/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22960" y="3648456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408176" y="353872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FER inference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408176" y="383133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Face region is prepared for the trained FER model.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58368" y="4562856"/>
            <a:ext cx="4407408" cy="960120"/>
          </a:xfrm>
          <a:prstGeom prst="roundRect">
            <a:avLst>
              <a:gd fmla="val 1142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22960" y="4736592"/>
            <a:ext cx="438912" cy="438912"/>
          </a:xfrm>
          <a:prstGeom prst="ellipse">
            <a:avLst/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22960" y="4809744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408176" y="47000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Clear output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408176" y="49926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Show predicted emotion with a confidence percentage.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13232" y="5788152"/>
            <a:ext cx="868680" cy="384048"/>
          </a:xfrm>
          <a:prstGeom prst="roundRect">
            <a:avLst>
              <a:gd fmla="val 23810" name="adj"/>
            </a:avLst>
          </a:prstGeom>
          <a:solidFill>
            <a:srgbClr val="E8E6FF"/>
          </a:solidFill>
          <a:ln cap="flat" cmpd="sng" w="101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86384" y="5852160"/>
            <a:ext cx="7223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Happy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682496" y="5788152"/>
            <a:ext cx="749808" cy="384048"/>
          </a:xfrm>
          <a:prstGeom prst="roundRect">
            <a:avLst>
              <a:gd fmla="val 23810" name="adj"/>
            </a:avLst>
          </a:prstGeom>
          <a:solidFill>
            <a:srgbClr val="DDF6F1"/>
          </a:solidFill>
          <a:ln cap="flat" cmpd="sng" w="1015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1755648" y="5852160"/>
            <a:ext cx="603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Sad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532888" y="5788152"/>
            <a:ext cx="841248" cy="384048"/>
          </a:xfrm>
          <a:prstGeom prst="roundRect">
            <a:avLst>
              <a:gd fmla="val 23810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2606040" y="5852160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Angry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474720" y="5788152"/>
            <a:ext cx="731520" cy="384048"/>
          </a:xfrm>
          <a:prstGeom prst="roundRect">
            <a:avLst>
              <a:gd fmla="val 23810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3547872" y="5852160"/>
            <a:ext cx="585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Fear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306824" y="5788152"/>
            <a:ext cx="960120" cy="384048"/>
          </a:xfrm>
          <a:prstGeom prst="roundRect">
            <a:avLst>
              <a:gd fmla="val 23810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379976" y="5852160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Surprise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583680" y="10058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7A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B7A5"/>
                </a:solidFill>
                <a:latin typeface="Arial"/>
                <a:ea typeface="Arial"/>
                <a:cs typeface="Arial"/>
                <a:sym typeface="Arial"/>
              </a:rPr>
              <a:t>PHOTO ANALYSIS UI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583680" y="1399032"/>
            <a:ext cx="4416552" cy="4983480"/>
          </a:xfrm>
          <a:prstGeom prst="roundRect">
            <a:avLst>
              <a:gd fmla="val 2484" name="adj"/>
            </a:avLst>
          </a:prstGeom>
          <a:solidFill>
            <a:srgbClr val="E9D9C4">
              <a:alpha val="85098"/>
            </a:srgbClr>
          </a:solidFill>
          <a:ln cap="flat" cmpd="sng" w="12700">
            <a:solidFill>
              <a:srgbClr val="E9D9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510528" y="1325880"/>
            <a:ext cx="4416552" cy="4983480"/>
          </a:xfrm>
          <a:prstGeom prst="roundRect">
            <a:avLst>
              <a:gd fmla="val 2484" name="adj"/>
            </a:avLst>
          </a:prstGeom>
          <a:solidFill>
            <a:srgbClr val="FFF9F1"/>
          </a:solidFill>
          <a:ln cap="flat" cmpd="sng" w="11425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oodlens_ss/WhatsApp Image 2026-09-23 at 11.09.27 PM.jpe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5860" y="1435608"/>
            <a:ext cx="2265889" cy="47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9905163" y="1475428"/>
            <a:ext cx="932700" cy="292500"/>
          </a:xfrm>
          <a:prstGeom prst="roundRect">
            <a:avLst>
              <a:gd fmla="val 25000" name="adj"/>
            </a:avLst>
          </a:prstGeom>
          <a:solidFill>
            <a:srgbClr val="12B7A5"/>
          </a:solidFill>
          <a:ln cap="flat" cmpd="sng" w="1270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9941739" y="1530292"/>
            <a:ext cx="85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b="1" lang="en-US" sz="860">
                <a:solidFill>
                  <a:srgbClr val="FFFFFF"/>
                </a:solidFill>
              </a:rPr>
              <a:t>Photo Analysis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02920" y="30175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87552" y="3017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TARGET EMOTION FILTER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4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4"/>
          <p:cNvSpPr/>
          <p:nvPr/>
        </p:nvSpPr>
        <p:spPr>
          <a:xfrm>
            <a:off x="658375" y="749801"/>
            <a:ext cx="749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34271F"/>
                </a:solidFill>
                <a:latin typeface="Play"/>
                <a:ea typeface="Play"/>
                <a:cs typeface="Play"/>
                <a:sym typeface="Play"/>
              </a:rPr>
              <a:t>Let the user choose what to detect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76650" y="1234625"/>
            <a:ext cx="9206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One or more target emotions can be selected before detection.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29540" y="1692444"/>
            <a:ext cx="3931800" cy="4625700"/>
          </a:xfrm>
          <a:prstGeom prst="roundRect">
            <a:avLst>
              <a:gd fmla="val 2715" name="adj"/>
            </a:avLst>
          </a:prstGeom>
          <a:solidFill>
            <a:srgbClr val="E9D9C4">
              <a:alpha val="85098"/>
            </a:srgbClr>
          </a:solidFill>
          <a:ln cap="flat" cmpd="sng" w="12350">
            <a:solidFill>
              <a:srgbClr val="E9D9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50" lIns="88950" spcFirstLastPara="1" rIns="88950" wrap="square" tIns="88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8375" y="1621279"/>
            <a:ext cx="3931800" cy="4625700"/>
          </a:xfrm>
          <a:prstGeom prst="roundRect">
            <a:avLst>
              <a:gd fmla="val 2715" name="adj"/>
            </a:avLst>
          </a:prstGeom>
          <a:solidFill>
            <a:srgbClr val="FFF9F1"/>
          </a:solidFill>
          <a:ln cap="flat" cmpd="sng" w="11125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50" lIns="88950" spcFirstLastPara="1" rIns="88950" wrap="square" tIns="88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oodlens_ss/WhatsApp Image 2026-09-23 at 11.10.26 PM.jpeg" id="146" name="Google Shape;1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1320" y="1728027"/>
            <a:ext cx="2153723" cy="441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3701825" y="1745825"/>
            <a:ext cx="836100" cy="284700"/>
          </a:xfrm>
          <a:prstGeom prst="roundRect">
            <a:avLst>
              <a:gd fmla="val 25000" name="adj"/>
            </a:avLst>
          </a:prstGeom>
          <a:solidFill>
            <a:srgbClr val="5A54F3"/>
          </a:solidFill>
          <a:ln cap="flat" cmpd="sng" w="123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50" lIns="88950" spcFirstLastPara="1" rIns="88950" wrap="square" tIns="88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3666013" y="1799192"/>
            <a:ext cx="8361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Arial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b="0" i="0" sz="8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285232" y="18288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WHY THIS FEATURE?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276088" y="2221992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A more purposeful FER experience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285232" y="2788920"/>
            <a:ext cx="5349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Instead of forcing every class to matter equally, MoodLens can focus on the exact emotion — or combination of emotions — the user wants to monitor.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285232" y="3886200"/>
            <a:ext cx="2743200" cy="960120"/>
          </a:xfrm>
          <a:prstGeom prst="roundRect">
            <a:avLst>
              <a:gd fmla="val 1142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5449824" y="4059936"/>
            <a:ext cx="438912" cy="438912"/>
          </a:xfrm>
          <a:prstGeom prst="ellipse">
            <a:avLst/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449824" y="413308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035040" y="402336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Single emotion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035040" y="4315968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Example: detect only Happy.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8211312" y="3886200"/>
            <a:ext cx="2743200" cy="960120"/>
          </a:xfrm>
          <a:prstGeom prst="roundRect">
            <a:avLst>
              <a:gd fmla="val 1142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8375904" y="4059936"/>
            <a:ext cx="438912" cy="438912"/>
          </a:xfrm>
          <a:prstGeom prst="ellipse">
            <a:avLst/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375904" y="4133088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8961120" y="402336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Multiple emotions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961120" y="4315968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Example: Happy + Surprise.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85232" y="5184648"/>
            <a:ext cx="5669280" cy="795528"/>
          </a:xfrm>
          <a:prstGeom prst="roundRect">
            <a:avLst>
              <a:gd fmla="val 12644" name="adj"/>
            </a:avLst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5532120" y="5413248"/>
            <a:ext cx="51755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9F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9F1"/>
                </a:solidFill>
                <a:latin typeface="Arial"/>
                <a:ea typeface="Arial"/>
                <a:cs typeface="Arial"/>
                <a:sym typeface="Arial"/>
              </a:rPr>
              <a:t>All seven FER classes remain available — the filter only changes what the app highlights.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02920" y="30175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987552" y="3017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HISTORY &amp; ANALYTICS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658377" y="652905"/>
            <a:ext cx="94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34271F"/>
                </a:solidFill>
                <a:latin typeface="Play"/>
                <a:ea typeface="Play"/>
                <a:cs typeface="Play"/>
                <a:sym typeface="Play"/>
              </a:rPr>
              <a:t>From individual detections to useful patterns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76656" y="1156867"/>
            <a:ext cx="7589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History preserves past results; analytics summarizes what the app has detected over time.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84178" y="1692817"/>
            <a:ext cx="3794700" cy="4617600"/>
          </a:xfrm>
          <a:prstGeom prst="roundRect">
            <a:avLst>
              <a:gd fmla="val 2892" name="adj"/>
            </a:avLst>
          </a:prstGeom>
          <a:solidFill>
            <a:srgbClr val="E9D9C4">
              <a:alpha val="85098"/>
            </a:srgbClr>
          </a:solidFill>
          <a:ln cap="flat" cmpd="sng" w="12700">
            <a:solidFill>
              <a:srgbClr val="E9D9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11026" y="1619665"/>
            <a:ext cx="3794700" cy="4617600"/>
          </a:xfrm>
          <a:prstGeom prst="roundRect">
            <a:avLst>
              <a:gd fmla="val 2892" name="adj"/>
            </a:avLst>
          </a:prstGeom>
          <a:solidFill>
            <a:srgbClr val="FFF9F1"/>
          </a:solidFill>
          <a:ln cap="flat" cmpd="sng" w="11425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oodlens_ss/WhatsApp Image 2026-09-23 at 11.11.08 PM.jpeg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8602" y="1729393"/>
            <a:ext cx="2259608" cy="439826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3719200" y="1781350"/>
            <a:ext cx="676800" cy="237600"/>
          </a:xfrm>
          <a:prstGeom prst="roundRect">
            <a:avLst>
              <a:gd fmla="val 25000" name="adj"/>
            </a:avLst>
          </a:prstGeom>
          <a:solidFill>
            <a:srgbClr val="5A54F3"/>
          </a:solidFill>
          <a:ln cap="flat" cmpd="sng" w="10325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250" lIns="74250" spcFirstLastPara="1" rIns="74250" wrap="square" tIns="7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710973" y="1825916"/>
            <a:ext cx="698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9"/>
              <a:buFont typeface="Arial"/>
              <a:buNone/>
            </a:pPr>
            <a:r>
              <a:rPr b="1" i="0" lang="en-US" sz="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6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807354" y="1692817"/>
            <a:ext cx="3794700" cy="4617600"/>
          </a:xfrm>
          <a:prstGeom prst="roundRect">
            <a:avLst>
              <a:gd fmla="val 2892" name="adj"/>
            </a:avLst>
          </a:prstGeom>
          <a:solidFill>
            <a:srgbClr val="E9D9C4">
              <a:alpha val="85098"/>
            </a:srgbClr>
          </a:solidFill>
          <a:ln cap="flat" cmpd="sng" w="12700">
            <a:solidFill>
              <a:srgbClr val="E9D9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734202" y="1619665"/>
            <a:ext cx="3794700" cy="4617600"/>
          </a:xfrm>
          <a:prstGeom prst="roundRect">
            <a:avLst>
              <a:gd fmla="val 2892" name="adj"/>
            </a:avLst>
          </a:prstGeom>
          <a:solidFill>
            <a:srgbClr val="FFF9F1"/>
          </a:solidFill>
          <a:ln cap="flat" cmpd="sng" w="11425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oodlens_ss/WhatsApp Image 2026-09-23 at 11.11.29 PM.jpeg" id="182" name="Google Shape;1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06237" y="1729393"/>
            <a:ext cx="2050691" cy="43982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/>
          <p:nvPr/>
        </p:nvSpPr>
        <p:spPr>
          <a:xfrm>
            <a:off x="10724751" y="1781350"/>
            <a:ext cx="757800" cy="237900"/>
          </a:xfrm>
          <a:prstGeom prst="roundRect">
            <a:avLst>
              <a:gd fmla="val 25000" name="adj"/>
            </a:avLst>
          </a:prstGeom>
          <a:solidFill>
            <a:srgbClr val="12B7A5"/>
          </a:solidFill>
          <a:ln cap="flat" cmpd="sng" w="10325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250" lIns="74250" spcFirstLastPara="1" rIns="74250" wrap="square" tIns="7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10754467" y="1825924"/>
            <a:ext cx="698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9"/>
              <a:buFont typeface="Arial"/>
              <a:buNone/>
            </a:pPr>
            <a:r>
              <a:rPr b="1" i="0" lang="en-US" sz="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6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689250" y="2049433"/>
            <a:ext cx="2633400" cy="3401700"/>
          </a:xfrm>
          <a:prstGeom prst="roundRect">
            <a:avLst>
              <a:gd fmla="val 6250" name="adj"/>
            </a:avLst>
          </a:prstGeom>
          <a:solidFill>
            <a:srgbClr val="FFF9F1"/>
          </a:solidFill>
          <a:ln cap="flat" cmpd="sng" w="11425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064159" y="2396896"/>
            <a:ext cx="18837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5"/>
          <p:cNvCxnSpPr/>
          <p:nvPr/>
        </p:nvCxnSpPr>
        <p:spPr>
          <a:xfrm>
            <a:off x="5173882" y="3492864"/>
            <a:ext cx="1682400" cy="0"/>
          </a:xfrm>
          <a:prstGeom prst="straightConnector1">
            <a:avLst/>
          </a:prstGeom>
          <a:noFill/>
          <a:ln cap="flat" cmpd="sng" w="1270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5"/>
          <p:cNvSpPr/>
          <p:nvPr/>
        </p:nvSpPr>
        <p:spPr>
          <a:xfrm>
            <a:off x="5064154" y="3721464"/>
            <a:ext cx="1883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120"/>
              <a:buFont typeface="Arial"/>
              <a:buAutoNum type="arabicPeriod"/>
            </a:pPr>
            <a:r>
              <a:rPr b="0" i="0" lang="en-US" sz="11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date &amp; time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120"/>
              <a:buFont typeface="Arial"/>
              <a:buAutoNum type="arabicPeriod"/>
            </a:pPr>
            <a:r>
              <a:rPr b="0" i="0" lang="en-US" sz="11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120"/>
              <a:buFont typeface="Arial"/>
              <a:buAutoNum type="arabicPeriod"/>
            </a:pPr>
            <a:r>
              <a:rPr b="0" i="0" lang="en-US" sz="11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120"/>
              <a:buFont typeface="Arial"/>
              <a:buAutoNum type="arabicPeriod"/>
            </a:pPr>
            <a:r>
              <a:rPr b="0" i="0" lang="en-US" sz="11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daily / weekly trends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064154" y="4838655"/>
            <a:ext cx="1097400" cy="384000"/>
          </a:xfrm>
          <a:prstGeom prst="roundRect">
            <a:avLst>
              <a:gd fmla="val 23810" name="adj"/>
            </a:avLst>
          </a:prstGeom>
          <a:solidFill>
            <a:srgbClr val="E8E6FF"/>
          </a:solidFill>
          <a:ln cap="flat" cmpd="sng" w="1015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137306" y="4902663"/>
            <a:ext cx="951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Local history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243730" y="4838655"/>
            <a:ext cx="822900" cy="384000"/>
          </a:xfrm>
          <a:prstGeom prst="roundRect">
            <a:avLst>
              <a:gd fmla="val 23810" name="adj"/>
            </a:avLst>
          </a:prstGeom>
          <a:solidFill>
            <a:srgbClr val="DDF6F1"/>
          </a:solidFill>
          <a:ln cap="flat" cmpd="sng" w="1015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316882" y="4902663"/>
            <a:ext cx="676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Charts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02920" y="30175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87552" y="3017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TECHNOLOGY PLAN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6"/>
          <p:cNvCxnSpPr/>
          <p:nvPr/>
        </p:nvCxnSpPr>
        <p:spPr>
          <a:xfrm>
            <a:off x="502920" y="6510528"/>
            <a:ext cx="11183112" cy="0"/>
          </a:xfrm>
          <a:prstGeom prst="straightConnector1">
            <a:avLst/>
          </a:prstGeom>
          <a:noFill/>
          <a:ln cap="flat" cmpd="sng" w="10150">
            <a:solidFill>
              <a:srgbClr val="CBB7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6"/>
          <p:cNvSpPr/>
          <p:nvPr/>
        </p:nvSpPr>
        <p:spPr>
          <a:xfrm>
            <a:off x="658368" y="749808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2900"/>
              <a:buFont typeface="Play"/>
              <a:buNone/>
            </a:pPr>
            <a:r>
              <a:rPr b="1" i="0" lang="en-US" sz="2900" u="none" cap="none" strike="noStrike">
                <a:solidFill>
                  <a:srgbClr val="34271F"/>
                </a:solidFill>
                <a:latin typeface="Play"/>
                <a:ea typeface="Play"/>
                <a:cs typeface="Play"/>
                <a:sym typeface="Play"/>
              </a:rPr>
              <a:t>Planned Android implementation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76656" y="1307592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A practical stack for moving from the proposal UI to the working capstone app.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58368" y="1828800"/>
            <a:ext cx="2148840" cy="1060704"/>
          </a:xfrm>
          <a:prstGeom prst="roundRect">
            <a:avLst>
              <a:gd fmla="val 10345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804672" y="1975104"/>
            <a:ext cx="621792" cy="329184"/>
          </a:xfrm>
          <a:prstGeom prst="roundRect">
            <a:avLst>
              <a:gd fmla="val 22222" name="adj"/>
            </a:avLst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822960" y="2039112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554480" y="19659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Android Studio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22960" y="2386584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Main development environment with XML layouts.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962656" y="1828800"/>
            <a:ext cx="2148840" cy="1060704"/>
          </a:xfrm>
          <a:prstGeom prst="roundRect">
            <a:avLst>
              <a:gd fmla="val 10345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108960" y="1975104"/>
            <a:ext cx="621792" cy="329184"/>
          </a:xfrm>
          <a:prstGeom prst="roundRect">
            <a:avLst>
              <a:gd fmla="val 22222" name="adj"/>
            </a:avLst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127248" y="2039112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858768" y="19659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Kotlin + Java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127248" y="2386584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Both languages can coexist in one Android project.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266944" y="1828800"/>
            <a:ext cx="2148840" cy="1060704"/>
          </a:xfrm>
          <a:prstGeom prst="roundRect">
            <a:avLst>
              <a:gd fmla="val 10345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413248" y="1975104"/>
            <a:ext cx="621792" cy="329184"/>
          </a:xfrm>
          <a:prstGeom prst="roundRect">
            <a:avLst>
              <a:gd fmla="val 22222" name="adj"/>
            </a:avLst>
          </a:prstGeom>
          <a:solidFill>
            <a:srgbClr val="12B7A5"/>
          </a:solidFill>
          <a:ln cap="flat" cmpd="sng" w="12700">
            <a:solidFill>
              <a:srgbClr val="12B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5431536" y="2039112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163056" y="19659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CameraX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431536" y="2386584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AndroidX camera APIs usable from Kotlin and Java.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571232" y="1828800"/>
            <a:ext cx="2148840" cy="1060704"/>
          </a:xfrm>
          <a:prstGeom prst="roundRect">
            <a:avLst>
              <a:gd fmla="val 10345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7717536" y="1975104"/>
            <a:ext cx="621792" cy="329184"/>
          </a:xfrm>
          <a:prstGeom prst="roundRect">
            <a:avLst>
              <a:gd fmla="val 22222" name="adj"/>
            </a:avLst>
          </a:prstGeom>
          <a:solidFill>
            <a:srgbClr val="D85B50"/>
          </a:solidFill>
          <a:ln cap="flat" cmpd="sng" w="12700">
            <a:solidFill>
              <a:srgbClr val="D85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7735824" y="2039112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467344" y="19659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FER + TFLite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7735824" y="2386584"/>
            <a:ext cx="1819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Train/use the FER model and run inference on-device.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9875520" y="1828800"/>
            <a:ext cx="1664208" cy="1060704"/>
          </a:xfrm>
          <a:prstGeom prst="roundRect">
            <a:avLst>
              <a:gd fmla="val 10345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0021824" y="1975104"/>
            <a:ext cx="621792" cy="329184"/>
          </a:xfrm>
          <a:prstGeom prst="roundRect">
            <a:avLst>
              <a:gd fmla="val 22222" name="adj"/>
            </a:avLst>
          </a:prstGeom>
          <a:solidFill>
            <a:srgbClr val="74513D"/>
          </a:solidFill>
          <a:ln cap="flat" cmpd="sng" w="12700">
            <a:solidFill>
              <a:srgbClr val="745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10040112" y="2039112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0771632" y="1965960"/>
            <a:ext cx="612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Room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10040112" y="2386584"/>
            <a:ext cx="13350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Store detection history locally for analytics.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58368" y="340156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4F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54F3"/>
                </a:solidFill>
                <a:latin typeface="Arial"/>
                <a:ea typeface="Arial"/>
                <a:cs typeface="Arial"/>
                <a:sym typeface="Arial"/>
              </a:rPr>
              <a:t>PROPOSED PIPELINE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58368" y="3877056"/>
            <a:ext cx="1856232" cy="1078992"/>
          </a:xfrm>
          <a:prstGeom prst="roundRect">
            <a:avLst>
              <a:gd fmla="val 1016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795528" y="4096512"/>
            <a:ext cx="1581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CameraX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95528" y="4443984"/>
            <a:ext cx="1581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camera frames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578608" y="4178808"/>
            <a:ext cx="228600" cy="411480"/>
          </a:xfrm>
          <a:prstGeom prst="chevron">
            <a:avLst>
              <a:gd fmla="val 50000" name="adj"/>
            </a:avLst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2898648" y="3877056"/>
            <a:ext cx="1856232" cy="1078992"/>
          </a:xfrm>
          <a:prstGeom prst="roundRect">
            <a:avLst>
              <a:gd fmla="val 10169" name="adj"/>
            </a:avLst>
          </a:prstGeom>
          <a:solidFill>
            <a:srgbClr val="FAF4EA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3035808" y="4096512"/>
            <a:ext cx="1581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035808" y="4443984"/>
            <a:ext cx="1581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find face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818888" y="4178808"/>
            <a:ext cx="228600" cy="411480"/>
          </a:xfrm>
          <a:prstGeom prst="chevron">
            <a:avLst>
              <a:gd fmla="val 50000" name="adj"/>
            </a:avLst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5138928" y="3877056"/>
            <a:ext cx="1856232" cy="1078992"/>
          </a:xfrm>
          <a:prstGeom prst="roundRect">
            <a:avLst>
              <a:gd fmla="val 1016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5276088" y="4096512"/>
            <a:ext cx="1581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Preprocess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276088" y="4443984"/>
            <a:ext cx="1581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FER input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059168" y="4178808"/>
            <a:ext cx="228600" cy="411480"/>
          </a:xfrm>
          <a:prstGeom prst="chevron">
            <a:avLst>
              <a:gd fmla="val 50000" name="adj"/>
            </a:avLst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379208" y="3877056"/>
            <a:ext cx="1856232" cy="1078992"/>
          </a:xfrm>
          <a:prstGeom prst="roundRect">
            <a:avLst>
              <a:gd fmla="val 10169" name="adj"/>
            </a:avLst>
          </a:prstGeom>
          <a:solidFill>
            <a:srgbClr val="FAF4EA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516368" y="4096512"/>
            <a:ext cx="1581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FER / TFLite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516368" y="4443984"/>
            <a:ext cx="1581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9299448" y="4178808"/>
            <a:ext cx="228600" cy="411480"/>
          </a:xfrm>
          <a:prstGeom prst="chevron">
            <a:avLst>
              <a:gd fmla="val 50000" name="adj"/>
            </a:avLst>
          </a:prstGeom>
          <a:solidFill>
            <a:srgbClr val="5A54F3"/>
          </a:solidFill>
          <a:ln cap="flat" cmpd="sng" w="12700">
            <a:solidFill>
              <a:srgbClr val="5A5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9619488" y="3877056"/>
            <a:ext cx="1856232" cy="1078992"/>
          </a:xfrm>
          <a:prstGeom prst="roundRect">
            <a:avLst>
              <a:gd fmla="val 10169" name="adj"/>
            </a:avLst>
          </a:prstGeom>
          <a:solidFill>
            <a:srgbClr val="FFF9F1"/>
          </a:solidFill>
          <a:ln cap="flat" cmpd="sng" w="10150">
            <a:solidFill>
              <a:srgbClr val="DFC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9756648" y="4096512"/>
            <a:ext cx="1581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271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34271F"/>
                </a:solidFill>
                <a:latin typeface="Arial"/>
                <a:ea typeface="Arial"/>
                <a:cs typeface="Arial"/>
                <a:sym typeface="Arial"/>
              </a:rPr>
              <a:t>MoodLens UI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9756648" y="4443984"/>
            <a:ext cx="1581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665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56657"/>
                </a:solidFill>
                <a:latin typeface="Arial"/>
                <a:ea typeface="Arial"/>
                <a:cs typeface="Arial"/>
                <a:sym typeface="Arial"/>
              </a:rPr>
              <a:t>show result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1170432" y="5532120"/>
            <a:ext cx="9838944" cy="530352"/>
          </a:xfrm>
          <a:prstGeom prst="roundRect">
            <a:avLst>
              <a:gd fmla="val 17241" name="adj"/>
            </a:avLst>
          </a:prstGeom>
          <a:solidFill>
            <a:srgbClr val="34271F"/>
          </a:solidFill>
          <a:ln cap="flat" cmpd="sng" w="12700">
            <a:solidFill>
              <a:srgbClr val="34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1417320" y="5696712"/>
            <a:ext cx="93451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9F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9F1"/>
                </a:solidFill>
                <a:latin typeface="Arial"/>
                <a:ea typeface="Arial"/>
                <a:cs typeface="Arial"/>
                <a:sym typeface="Arial"/>
              </a:rPr>
              <a:t>Next: connect CameraX → integrate FER model → replace demo data with real detections.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2026-09-23T17:35:21Z</dcterms:created>
  <dc:creator>Group 21</dc:creator>
</cp:coreProperties>
</file>